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Economica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A7147E-1B2E-486E-9DE2-5062C9585EE4}">
  <a:tblStyle styleId="{D5A7147E-1B2E-486E-9DE2-5062C9585E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Economica-regular.fntdata"/><Relationship Id="rId25" Type="http://schemas.openxmlformats.org/officeDocument/2006/relationships/slide" Target="slides/slide18.xml"/><Relationship Id="rId28" Type="http://schemas.openxmlformats.org/officeDocument/2006/relationships/font" Target="fonts/Economica-italic.fntdata"/><Relationship Id="rId27" Type="http://schemas.openxmlformats.org/officeDocument/2006/relationships/font" Target="fonts/Economica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Economica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4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3.xml"/><Relationship Id="rId32" Type="http://schemas.openxmlformats.org/officeDocument/2006/relationships/font" Target="fonts/Open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95f4c9191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95f4c9191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95f4c919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95f4c919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074ab6c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074ab6c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ee70d36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ee70d36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ee70d36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ee70d36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074ab6c3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074ab6c3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074ab6c3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074ab6c3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074ab6c3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074ab6c3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ee70d36d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ee70d36d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e70d36d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ee70d36d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074ab6c3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074ab6c3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074ab6c3b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074ab6c3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074ab6c3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074ab6c3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074ab6c3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074ab6c3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074ab6c3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b074ab6c3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074ab6c3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074ab6c3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074ab6c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074ab6c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d7888a2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ad7888a2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Case studies</a:t>
            </a:r>
            <a:endParaRPr sz="3650"/>
          </a:p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Kripke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Relearn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Lulesh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miniFE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Quicksilver (?)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ctrTitle"/>
          </p:nvPr>
        </p:nvSpPr>
        <p:spPr>
          <a:xfrm>
            <a:off x="3044700" y="760374"/>
            <a:ext cx="3054600" cy="111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1 - Kripke</a:t>
            </a:r>
            <a:endParaRPr/>
          </a:p>
        </p:txBody>
      </p:sp>
      <p:sp>
        <p:nvSpPr>
          <p:cNvPr id="120" name="Google Shape;120;p27"/>
          <p:cNvSpPr txBox="1"/>
          <p:nvPr>
            <p:ph idx="1" type="subTitle"/>
          </p:nvPr>
        </p:nvSpPr>
        <p:spPr>
          <a:xfrm>
            <a:off x="3044700" y="2068042"/>
            <a:ext cx="3054600" cy="17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1A - Measurements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 - Selected functions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1C - Comments 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1D - Evaluation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1A - Measurements</a:t>
            </a:r>
            <a:endParaRPr sz="3650"/>
          </a:p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 = {512, 1000, 1728, 2744, 4096} — (scaling as {8, 10, 12, 14, 16}^3)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{32, 64, 96,128, 160}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 = {64, 512, 1728, 4096, 8000}</a:t>
            </a:r>
            <a:r>
              <a:rPr lang="en"/>
              <a:t> — (scaling as {4, 8, 12, 16, 20}^3)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points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(p0, p1) = (16</a:t>
            </a:r>
            <a:r>
              <a:rPr lang="en"/>
              <a:t>^3</a:t>
            </a:r>
            <a:r>
              <a:rPr lang="en"/>
              <a:t>, 18</a:t>
            </a:r>
            <a:r>
              <a:rPr lang="en"/>
              <a:t>^3</a:t>
            </a:r>
            <a:r>
              <a:rPr lang="en"/>
              <a:t>)</a:t>
            </a:r>
            <a:r>
              <a:rPr lang="en"/>
              <a:t>; (G0, G1) = (160, 192); (Z0, Z1) = (20^3, 24^3)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P1 = (p1, G0, Z0)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P2 = (p0, G1, Z0)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P3 = (p0, G0, Z1)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1A - M</a:t>
            </a:r>
            <a:r>
              <a:rPr lang="en" sz="3650"/>
              <a:t>easurements</a:t>
            </a:r>
            <a:endParaRPr sz="3650"/>
          </a:p>
        </p:txBody>
      </p:sp>
      <p:sp>
        <p:nvSpPr>
          <p:cNvPr id="132" name="Google Shape;132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format for measurements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--procs px,py,pz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</a:t>
            </a:r>
            <a:r>
              <a:rPr lang="en"/>
              <a:t> =  </a:t>
            </a:r>
            <a:r>
              <a:rPr lang="en"/>
              <a:t>px*py*pz equally distributed (px = py = pz)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--groups 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--zones Zx*px,Zy*py,Zz * pz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Z = (Zx*px) * (Zy*py) * (Zz*pz)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Multiplying by p (px*py*pz) garanties the weak scaling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Extra-P model: weak scaling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50"/>
              <a:t>1B - Selected functions</a:t>
            </a:r>
            <a:endParaRPr sz="3650"/>
          </a:p>
        </p:txBody>
      </p:sp>
      <p:sp>
        <p:nvSpPr>
          <p:cNvPr id="138" name="Google Shape;138;p3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selected the kernels with </a:t>
            </a:r>
            <a:r>
              <a:rPr lang="en"/>
              <a:t>accumulated</a:t>
            </a:r>
            <a:r>
              <a:rPr lang="en"/>
              <a:t> runtime &gt;= 1% of the total runtime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12 functions take 98.65% of the total runtime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Computation functions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[F1, F2, F3, F11] = [20.45%, 20.08%, 16.69%, 3.76%]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SUM = 60.98%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MPI functions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[F9, F12] = </a:t>
            </a:r>
            <a:r>
              <a:rPr lang="en"/>
              <a:t>[11.17%, 4.88%]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SUM = 16.05%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Busy waiting functions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[F4, F5, F6, F7, F8, F10] = [2.96%, 3.30%, 1.47%, 4.49%, 6.04%, 3.36%]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SUM = 21.62%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1B - Selected functions</a:t>
            </a:r>
            <a:endParaRPr sz="3650"/>
          </a:p>
        </p:txBody>
      </p:sp>
      <p:graphicFrame>
        <p:nvGraphicFramePr>
          <p:cNvPr id="144" name="Google Shape;144;p31"/>
          <p:cNvGraphicFramePr/>
          <p:nvPr/>
        </p:nvGraphicFramePr>
        <p:xfrm>
          <a:off x="222525" y="129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{D5A7147E-1B2E-486E-9DE2-5062C9585EE4}</a:tableStyleId>
              </a:tblPr>
              <a:tblGrid>
                <a:gridCol w="375150"/>
                <a:gridCol w="1238600"/>
                <a:gridCol w="655925"/>
                <a:gridCol w="2505000"/>
                <a:gridCol w="2080825"/>
                <a:gridCol w="1786700"/>
              </a:tblGrid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Performance 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Performance SWC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Performance GPT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LTimes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8761D"/>
                          </a:solidFill>
                        </a:rPr>
                        <a:t>COMP</a:t>
                      </a:r>
                      <a:endParaRPr sz="10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p^(8/3) * G^(3/4) * log2(G)^(2) * Z * log2(Z)^(2)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 * Z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 * Z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scattering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38761D"/>
                          </a:solidFill>
                        </a:rPr>
                        <a:t>COMP</a:t>
                      </a:r>
                      <a:endParaRPr sz="10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G^(3/2) * log2(G)^(2) * Z * log2(Z)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G^2 * Z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G^2 * Z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LPlusTimes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38761D"/>
                          </a:solidFill>
                        </a:rPr>
                        <a:t>COMP</a:t>
                      </a:r>
                      <a:endParaRPr sz="10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p^(5/2) * log2(p)^(2) * G * log2(G) * Z^(4/3) * log2(Z)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 * Z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 * Z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SweepSolver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 * log2(p) * G^(2/3) * log2(G)^(2) * Z^(2/3)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 * log2(G)^(2) * Z^(1/2) * log2(Z)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SweepComm::workRemaining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p^(1) * log2(p) * G * Z^(2/3)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 * log2(G)^(2) * Z^(1/2) * log2(Z)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ParallelComm::workRemaining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 * log2(p) * G * Z^(2/3)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 * log2(G)^(2) * Z^(1/2) * log2(Z)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1B - Selected functions</a:t>
            </a:r>
            <a:endParaRPr sz="3650"/>
          </a:p>
        </p:txBody>
      </p:sp>
      <p:graphicFrame>
        <p:nvGraphicFramePr>
          <p:cNvPr id="150" name="Google Shape;150;p32"/>
          <p:cNvGraphicFramePr/>
          <p:nvPr/>
        </p:nvGraphicFramePr>
        <p:xfrm>
          <a:off x="222525" y="129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{D5A7147E-1B2E-486E-9DE2-5062C9585EE4}</a:tableStyleId>
              </a:tblPr>
              <a:tblGrid>
                <a:gridCol w="375150"/>
                <a:gridCol w="1238600"/>
                <a:gridCol w="655925"/>
                <a:gridCol w="2505000"/>
                <a:gridCol w="2080825"/>
                <a:gridCol w="1786700"/>
              </a:tblGrid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Performance 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Performance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SWC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Performance GPT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readySubdomains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 * log2(p) * G * Z^(2/3)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 * log2(G)^(2) * Z^(1/2) * log2(Z)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testRecieves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 * log2(p)^(2) * G * Z^(1/2) * log2(Z)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 * log2(G)^(2) * Z^(1/2) * log2(Z)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MPI_Testany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1C232"/>
                          </a:solidFill>
                        </a:rPr>
                        <a:t>MPI check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p^(4/3) * log2(p) * G^(3/4) * log2(G) * Z^(1/3) * log2(Z)^(2)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 * Z^(2/3)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Tref ​= α * p^⅓ + β* G * Z^⅔ 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getReadyList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p^(4/3) * log2(p) * G * Z^(1/2) * log2(Z)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 * log2(p)^(2) * G^(5/4) * log2(G) * Z^(1/2)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sweepSubdomain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38761D"/>
                          </a:solidFill>
                        </a:rPr>
                        <a:t>COMP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G^(4/5) * Z * log2(Z)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 * Z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 * Z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MPI_Allreduce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1C232"/>
                          </a:solidFill>
                        </a:rPr>
                        <a:t>MPI</a:t>
                      </a:r>
                      <a:endParaRPr sz="10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p^(5/4) * log2(p) * G^(1/4) * log2(G)^(2) * Z^(2/3) * log2(Z)^(2)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 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log2(p) </a:t>
                      </a: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review this value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1C - Comments</a:t>
            </a:r>
            <a:endParaRPr sz="3650"/>
          </a:p>
        </p:txBody>
      </p:sp>
      <p:graphicFrame>
        <p:nvGraphicFramePr>
          <p:cNvPr id="156" name="Google Shape;156;p33"/>
          <p:cNvGraphicFramePr/>
          <p:nvPr/>
        </p:nvGraphicFramePr>
        <p:xfrm>
          <a:off x="222525" y="129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{D5A7147E-1B2E-486E-9DE2-5062C9585EE4}</a:tableStyleId>
              </a:tblPr>
              <a:tblGrid>
                <a:gridCol w="434025"/>
                <a:gridCol w="1318925"/>
                <a:gridCol w="1356100"/>
                <a:gridCol w="2477975"/>
                <a:gridCol w="3055175"/>
              </a:tblGrid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Type</a:t>
                      </a:r>
                      <a:endParaRPr/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GPT comments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SweepSolver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global sweep = repeated Testany stages</a:t>
                      </a:r>
                      <a:endParaRPr sz="1000"/>
                    </a:p>
                  </a:txBody>
                  <a:tcPr marT="91425" marB="91425" marR="91425" marL="91425"/>
                </a:tc>
                <a:tc hMerge="1"/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SweepComm::workRemaining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wrapper over F6</a:t>
                      </a:r>
                      <a:endParaRPr sz="1000"/>
                    </a:p>
                  </a:txBody>
                  <a:tcPr marT="91425" marB="91425" marR="91425" marL="91425"/>
                </a:tc>
                <a:tc hMerge="1"/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ParallelComm::workRemaining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must wait for Testany results</a:t>
                      </a:r>
                      <a:endParaRPr sz="1000"/>
                    </a:p>
                  </a:txBody>
                  <a:tcPr marT="91425" marB="91425" marR="91425" marL="91425"/>
                </a:tc>
                <a:tc hMerge="1"/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readySubdomains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dominated by Testany</a:t>
                      </a:r>
                      <a:endParaRPr sz="1000"/>
                    </a:p>
                  </a:txBody>
                  <a:tcPr marT="91425" marB="91425" marR="91425" marL="91425"/>
                </a:tc>
                <a:tc hMerge="1"/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testRecieves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</a:t>
                      </a:r>
                      <a:r>
                        <a:rPr lang="en" sz="1000"/>
                        <a:t>nherits Testany waiting</a:t>
                      </a:r>
                      <a:endParaRPr sz="1000"/>
                    </a:p>
                  </a:txBody>
                  <a:tcPr marT="91425" marB="91425" marR="91425" marL="91425"/>
                </a:tc>
                <a:tc hMerge="1"/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MPI_Testany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1C232"/>
                          </a:solidFill>
                        </a:rPr>
                        <a:t>MPI check</a:t>
                      </a:r>
                      <a:endParaRPr sz="1000">
                        <a:solidFill>
                          <a:srgbClr val="F1C232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Reference model</a:t>
                      </a:r>
                      <a:endParaRPr sz="1000"/>
                    </a:p>
                  </a:txBody>
                  <a:tcPr marT="91425" marB="91425" marR="91425" marL="91425"/>
                </a:tc>
                <a:tc hMerge="1"/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getReadyList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FF0000"/>
                          </a:solidFill>
                        </a:rPr>
                        <a:t>BW</a:t>
                      </a:r>
                      <a:endParaRPr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Approximated as Test Receives </a:t>
                      </a:r>
                      <a:endParaRPr sz="1000"/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50"/>
              <a:t>1C - Comments</a:t>
            </a:r>
            <a:endParaRPr sz="3650"/>
          </a:p>
        </p:txBody>
      </p:sp>
      <p:sp>
        <p:nvSpPr>
          <p:cNvPr id="162" name="Google Shape;162;p3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MPI_Testany does not cause the α·p^(1/3) and β·(G·Z^(2/3)) complexity, but MPI_Testany is the mechanism through which Kripke observes these communication costs.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Testany cannot return a completed request until the latency and bandwidth effects of the incoming sweep messages have elapsed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α·p^(1/3) wavefront latency across the 3-D process grid — β·(G·Z^(2/3)) time to transfer face-sized angular flux data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So testRecieves inherits exactly the sweep communication complexity.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getReadyList() does not add α or β terms. But it is triggered only when Testany detects the dependency is satisfied.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By understanding code structure, we can fit component of latency and component of bandwidth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For direct correlated function, we can assign a reference model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1D - Evaluation </a:t>
            </a:r>
            <a:endParaRPr sz="3650"/>
          </a:p>
        </p:txBody>
      </p:sp>
      <p:sp>
        <p:nvSpPr>
          <p:cNvPr id="168" name="Google Shape;168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am planning to redo the evaluation with 2 ticks of difference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 = {6, 8, 10, 12, 14}^3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{40, 80, 100, 120}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 = {3, 6, 9, 12, 15}^3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points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 = {16, 18}^3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{140, 160}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 = {18, 21}^3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1D - Evaluation </a:t>
            </a:r>
            <a:endParaRPr sz="3650"/>
          </a:p>
        </p:txBody>
      </p:sp>
      <p:cxnSp>
        <p:nvCxnSpPr>
          <p:cNvPr id="174" name="Google Shape;174;p36"/>
          <p:cNvCxnSpPr/>
          <p:nvPr/>
        </p:nvCxnSpPr>
        <p:spPr>
          <a:xfrm>
            <a:off x="1504675" y="1742650"/>
            <a:ext cx="0" cy="243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36"/>
          <p:cNvCxnSpPr/>
          <p:nvPr/>
        </p:nvCxnSpPr>
        <p:spPr>
          <a:xfrm>
            <a:off x="1197600" y="3915200"/>
            <a:ext cx="362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36"/>
          <p:cNvSpPr/>
          <p:nvPr/>
        </p:nvSpPr>
        <p:spPr>
          <a:xfrm>
            <a:off x="1750325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7" name="Google Shape;177;p36"/>
          <p:cNvSpPr/>
          <p:nvPr/>
        </p:nvSpPr>
        <p:spPr>
          <a:xfrm>
            <a:off x="2110000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36"/>
          <p:cNvSpPr/>
          <p:nvPr/>
        </p:nvSpPr>
        <p:spPr>
          <a:xfrm>
            <a:off x="2469675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36"/>
          <p:cNvSpPr/>
          <p:nvPr/>
        </p:nvSpPr>
        <p:spPr>
          <a:xfrm>
            <a:off x="2829350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0" name="Google Shape;180;p36"/>
          <p:cNvSpPr/>
          <p:nvPr/>
        </p:nvSpPr>
        <p:spPr>
          <a:xfrm>
            <a:off x="3152925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36"/>
          <p:cNvSpPr/>
          <p:nvPr/>
        </p:nvSpPr>
        <p:spPr>
          <a:xfrm>
            <a:off x="3512600" y="36081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36"/>
          <p:cNvSpPr/>
          <p:nvPr/>
        </p:nvSpPr>
        <p:spPr>
          <a:xfrm>
            <a:off x="3872275" y="360812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36"/>
          <p:cNvSpPr/>
          <p:nvPr/>
        </p:nvSpPr>
        <p:spPr>
          <a:xfrm>
            <a:off x="5500900" y="19595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36"/>
          <p:cNvSpPr/>
          <p:nvPr/>
        </p:nvSpPr>
        <p:spPr>
          <a:xfrm>
            <a:off x="5500900" y="22740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36"/>
          <p:cNvSpPr/>
          <p:nvPr/>
        </p:nvSpPr>
        <p:spPr>
          <a:xfrm>
            <a:off x="5500900" y="25884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36"/>
          <p:cNvSpPr txBox="1"/>
          <p:nvPr/>
        </p:nvSpPr>
        <p:spPr>
          <a:xfrm>
            <a:off x="5746600" y="186312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Modeling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36"/>
          <p:cNvSpPr txBox="1"/>
          <p:nvPr/>
        </p:nvSpPr>
        <p:spPr>
          <a:xfrm>
            <a:off x="5746600" y="217757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 set 1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36"/>
          <p:cNvSpPr txBox="1"/>
          <p:nvPr/>
        </p:nvSpPr>
        <p:spPr>
          <a:xfrm>
            <a:off x="5766225" y="249202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 set 2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1D - Evaluation </a:t>
            </a:r>
            <a:endParaRPr sz="3650"/>
          </a:p>
        </p:txBody>
      </p:sp>
      <p:cxnSp>
        <p:nvCxnSpPr>
          <p:cNvPr id="194" name="Google Shape;194;p37"/>
          <p:cNvCxnSpPr/>
          <p:nvPr/>
        </p:nvCxnSpPr>
        <p:spPr>
          <a:xfrm>
            <a:off x="1504675" y="1742650"/>
            <a:ext cx="0" cy="243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7"/>
          <p:cNvCxnSpPr/>
          <p:nvPr/>
        </p:nvCxnSpPr>
        <p:spPr>
          <a:xfrm>
            <a:off x="1197600" y="3915200"/>
            <a:ext cx="362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37"/>
          <p:cNvSpPr/>
          <p:nvPr/>
        </p:nvSpPr>
        <p:spPr>
          <a:xfrm>
            <a:off x="1750325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37"/>
          <p:cNvSpPr/>
          <p:nvPr/>
        </p:nvSpPr>
        <p:spPr>
          <a:xfrm>
            <a:off x="2110000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37"/>
          <p:cNvSpPr/>
          <p:nvPr/>
        </p:nvSpPr>
        <p:spPr>
          <a:xfrm>
            <a:off x="2469675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2829350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37"/>
          <p:cNvSpPr/>
          <p:nvPr/>
        </p:nvSpPr>
        <p:spPr>
          <a:xfrm>
            <a:off x="3152925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37"/>
          <p:cNvSpPr/>
          <p:nvPr/>
        </p:nvSpPr>
        <p:spPr>
          <a:xfrm>
            <a:off x="3512600" y="36081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37"/>
          <p:cNvSpPr/>
          <p:nvPr/>
        </p:nvSpPr>
        <p:spPr>
          <a:xfrm>
            <a:off x="3872275" y="360812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37"/>
          <p:cNvSpPr/>
          <p:nvPr/>
        </p:nvSpPr>
        <p:spPr>
          <a:xfrm>
            <a:off x="1750325" y="33459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37"/>
          <p:cNvSpPr/>
          <p:nvPr/>
        </p:nvSpPr>
        <p:spPr>
          <a:xfrm>
            <a:off x="2110000" y="33459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37"/>
          <p:cNvSpPr/>
          <p:nvPr/>
        </p:nvSpPr>
        <p:spPr>
          <a:xfrm>
            <a:off x="2469675" y="33459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37"/>
          <p:cNvSpPr/>
          <p:nvPr/>
        </p:nvSpPr>
        <p:spPr>
          <a:xfrm>
            <a:off x="2829350" y="33459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37"/>
          <p:cNvSpPr/>
          <p:nvPr/>
        </p:nvSpPr>
        <p:spPr>
          <a:xfrm>
            <a:off x="3152925" y="33459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37"/>
          <p:cNvSpPr/>
          <p:nvPr/>
        </p:nvSpPr>
        <p:spPr>
          <a:xfrm>
            <a:off x="3512600" y="334597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37"/>
          <p:cNvSpPr/>
          <p:nvPr/>
        </p:nvSpPr>
        <p:spPr>
          <a:xfrm>
            <a:off x="3872275" y="33459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37"/>
          <p:cNvSpPr/>
          <p:nvPr/>
        </p:nvSpPr>
        <p:spPr>
          <a:xfrm>
            <a:off x="1750325" y="30838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37"/>
          <p:cNvSpPr/>
          <p:nvPr/>
        </p:nvSpPr>
        <p:spPr>
          <a:xfrm>
            <a:off x="2110000" y="30838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2" name="Google Shape;212;p37"/>
          <p:cNvSpPr/>
          <p:nvPr/>
        </p:nvSpPr>
        <p:spPr>
          <a:xfrm>
            <a:off x="2469675" y="30838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37"/>
          <p:cNvSpPr/>
          <p:nvPr/>
        </p:nvSpPr>
        <p:spPr>
          <a:xfrm>
            <a:off x="2829350" y="30838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37"/>
          <p:cNvSpPr/>
          <p:nvPr/>
        </p:nvSpPr>
        <p:spPr>
          <a:xfrm>
            <a:off x="3152925" y="30838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37"/>
          <p:cNvSpPr/>
          <p:nvPr/>
        </p:nvSpPr>
        <p:spPr>
          <a:xfrm>
            <a:off x="3512600" y="30838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37"/>
          <p:cNvSpPr/>
          <p:nvPr/>
        </p:nvSpPr>
        <p:spPr>
          <a:xfrm>
            <a:off x="3872275" y="308382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37"/>
          <p:cNvSpPr/>
          <p:nvPr/>
        </p:nvSpPr>
        <p:spPr>
          <a:xfrm>
            <a:off x="1750325" y="28216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37"/>
          <p:cNvSpPr/>
          <p:nvPr/>
        </p:nvSpPr>
        <p:spPr>
          <a:xfrm>
            <a:off x="2110000" y="28216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9" name="Google Shape;219;p37"/>
          <p:cNvSpPr/>
          <p:nvPr/>
        </p:nvSpPr>
        <p:spPr>
          <a:xfrm>
            <a:off x="2469675" y="28216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37"/>
          <p:cNvSpPr/>
          <p:nvPr/>
        </p:nvSpPr>
        <p:spPr>
          <a:xfrm>
            <a:off x="2829350" y="28216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37"/>
          <p:cNvSpPr/>
          <p:nvPr/>
        </p:nvSpPr>
        <p:spPr>
          <a:xfrm>
            <a:off x="3152925" y="28216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37"/>
          <p:cNvSpPr/>
          <p:nvPr/>
        </p:nvSpPr>
        <p:spPr>
          <a:xfrm>
            <a:off x="3512600" y="282167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37"/>
          <p:cNvSpPr/>
          <p:nvPr/>
        </p:nvSpPr>
        <p:spPr>
          <a:xfrm>
            <a:off x="3872275" y="28216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37"/>
          <p:cNvSpPr/>
          <p:nvPr/>
        </p:nvSpPr>
        <p:spPr>
          <a:xfrm>
            <a:off x="1750325" y="25595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37"/>
          <p:cNvSpPr/>
          <p:nvPr/>
        </p:nvSpPr>
        <p:spPr>
          <a:xfrm>
            <a:off x="2110000" y="25595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p37"/>
          <p:cNvSpPr/>
          <p:nvPr/>
        </p:nvSpPr>
        <p:spPr>
          <a:xfrm>
            <a:off x="2469675" y="25595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37"/>
          <p:cNvSpPr/>
          <p:nvPr/>
        </p:nvSpPr>
        <p:spPr>
          <a:xfrm>
            <a:off x="2829350" y="25595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37"/>
          <p:cNvSpPr/>
          <p:nvPr/>
        </p:nvSpPr>
        <p:spPr>
          <a:xfrm>
            <a:off x="3152925" y="25595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37"/>
          <p:cNvSpPr/>
          <p:nvPr/>
        </p:nvSpPr>
        <p:spPr>
          <a:xfrm>
            <a:off x="3512600" y="25595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37"/>
          <p:cNvSpPr/>
          <p:nvPr/>
        </p:nvSpPr>
        <p:spPr>
          <a:xfrm>
            <a:off x="3872275" y="255952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37"/>
          <p:cNvSpPr/>
          <p:nvPr/>
        </p:nvSpPr>
        <p:spPr>
          <a:xfrm>
            <a:off x="1750325" y="22740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37"/>
          <p:cNvSpPr/>
          <p:nvPr/>
        </p:nvSpPr>
        <p:spPr>
          <a:xfrm>
            <a:off x="2110000" y="22740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37"/>
          <p:cNvSpPr/>
          <p:nvPr/>
        </p:nvSpPr>
        <p:spPr>
          <a:xfrm>
            <a:off x="2469675" y="22740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4" name="Google Shape;234;p37"/>
          <p:cNvSpPr/>
          <p:nvPr/>
        </p:nvSpPr>
        <p:spPr>
          <a:xfrm>
            <a:off x="2829350" y="22740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37"/>
          <p:cNvSpPr/>
          <p:nvPr/>
        </p:nvSpPr>
        <p:spPr>
          <a:xfrm>
            <a:off x="3152925" y="22740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3512600" y="22740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37"/>
          <p:cNvSpPr/>
          <p:nvPr/>
        </p:nvSpPr>
        <p:spPr>
          <a:xfrm>
            <a:off x="3872275" y="227402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1750325" y="20118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37"/>
          <p:cNvSpPr/>
          <p:nvPr/>
        </p:nvSpPr>
        <p:spPr>
          <a:xfrm>
            <a:off x="2110000" y="20118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0" name="Google Shape;240;p37"/>
          <p:cNvSpPr/>
          <p:nvPr/>
        </p:nvSpPr>
        <p:spPr>
          <a:xfrm>
            <a:off x="2469675" y="20118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37"/>
          <p:cNvSpPr/>
          <p:nvPr/>
        </p:nvSpPr>
        <p:spPr>
          <a:xfrm>
            <a:off x="2829350" y="20118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37"/>
          <p:cNvSpPr/>
          <p:nvPr/>
        </p:nvSpPr>
        <p:spPr>
          <a:xfrm>
            <a:off x="3152925" y="20118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3" name="Google Shape;243;p37"/>
          <p:cNvSpPr/>
          <p:nvPr/>
        </p:nvSpPr>
        <p:spPr>
          <a:xfrm>
            <a:off x="3512600" y="20118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37"/>
          <p:cNvSpPr/>
          <p:nvPr/>
        </p:nvSpPr>
        <p:spPr>
          <a:xfrm>
            <a:off x="3872275" y="20118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37"/>
          <p:cNvSpPr/>
          <p:nvPr/>
        </p:nvSpPr>
        <p:spPr>
          <a:xfrm>
            <a:off x="5500900" y="19595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37"/>
          <p:cNvSpPr/>
          <p:nvPr/>
        </p:nvSpPr>
        <p:spPr>
          <a:xfrm>
            <a:off x="5500900" y="22740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37"/>
          <p:cNvSpPr/>
          <p:nvPr/>
        </p:nvSpPr>
        <p:spPr>
          <a:xfrm>
            <a:off x="5500900" y="25884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5746600" y="186312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Modeling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5746600" y="217757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 set 1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0" name="Google Shape;250;p37"/>
          <p:cNvSpPr txBox="1"/>
          <p:nvPr/>
        </p:nvSpPr>
        <p:spPr>
          <a:xfrm>
            <a:off x="5766225" y="249202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 set 2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1D - Evaluation </a:t>
            </a:r>
            <a:endParaRPr sz="3650"/>
          </a:p>
        </p:txBody>
      </p:sp>
      <p:cxnSp>
        <p:nvCxnSpPr>
          <p:cNvPr id="256" name="Google Shape;256;p38"/>
          <p:cNvCxnSpPr/>
          <p:nvPr/>
        </p:nvCxnSpPr>
        <p:spPr>
          <a:xfrm>
            <a:off x="1504675" y="1742650"/>
            <a:ext cx="0" cy="243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8"/>
          <p:cNvCxnSpPr/>
          <p:nvPr/>
        </p:nvCxnSpPr>
        <p:spPr>
          <a:xfrm>
            <a:off x="1197600" y="3915200"/>
            <a:ext cx="362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38"/>
          <p:cNvSpPr/>
          <p:nvPr/>
        </p:nvSpPr>
        <p:spPr>
          <a:xfrm>
            <a:off x="1750325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38"/>
          <p:cNvSpPr/>
          <p:nvPr/>
        </p:nvSpPr>
        <p:spPr>
          <a:xfrm>
            <a:off x="2110000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38"/>
          <p:cNvSpPr/>
          <p:nvPr/>
        </p:nvSpPr>
        <p:spPr>
          <a:xfrm>
            <a:off x="2469675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38"/>
          <p:cNvSpPr/>
          <p:nvPr/>
        </p:nvSpPr>
        <p:spPr>
          <a:xfrm>
            <a:off x="2829350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38"/>
          <p:cNvSpPr/>
          <p:nvPr/>
        </p:nvSpPr>
        <p:spPr>
          <a:xfrm>
            <a:off x="3152925" y="36081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38"/>
          <p:cNvSpPr/>
          <p:nvPr/>
        </p:nvSpPr>
        <p:spPr>
          <a:xfrm>
            <a:off x="1750325" y="33459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38"/>
          <p:cNvSpPr/>
          <p:nvPr/>
        </p:nvSpPr>
        <p:spPr>
          <a:xfrm>
            <a:off x="2110000" y="33459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38"/>
          <p:cNvSpPr/>
          <p:nvPr/>
        </p:nvSpPr>
        <p:spPr>
          <a:xfrm>
            <a:off x="2469675" y="33459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38"/>
          <p:cNvSpPr/>
          <p:nvPr/>
        </p:nvSpPr>
        <p:spPr>
          <a:xfrm>
            <a:off x="2829350" y="33459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3152925" y="33459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38"/>
          <p:cNvSpPr/>
          <p:nvPr/>
        </p:nvSpPr>
        <p:spPr>
          <a:xfrm>
            <a:off x="1750325" y="30838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38"/>
          <p:cNvSpPr/>
          <p:nvPr/>
        </p:nvSpPr>
        <p:spPr>
          <a:xfrm>
            <a:off x="2110000" y="30838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38"/>
          <p:cNvSpPr/>
          <p:nvPr/>
        </p:nvSpPr>
        <p:spPr>
          <a:xfrm>
            <a:off x="2469675" y="30838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38"/>
          <p:cNvSpPr/>
          <p:nvPr/>
        </p:nvSpPr>
        <p:spPr>
          <a:xfrm>
            <a:off x="2829350" y="30838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2" name="Google Shape;272;p38"/>
          <p:cNvSpPr/>
          <p:nvPr/>
        </p:nvSpPr>
        <p:spPr>
          <a:xfrm>
            <a:off x="3152925" y="30838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38"/>
          <p:cNvSpPr/>
          <p:nvPr/>
        </p:nvSpPr>
        <p:spPr>
          <a:xfrm>
            <a:off x="1750325" y="28216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38"/>
          <p:cNvSpPr/>
          <p:nvPr/>
        </p:nvSpPr>
        <p:spPr>
          <a:xfrm>
            <a:off x="2110000" y="28216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38"/>
          <p:cNvSpPr/>
          <p:nvPr/>
        </p:nvSpPr>
        <p:spPr>
          <a:xfrm>
            <a:off x="2469675" y="28216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38"/>
          <p:cNvSpPr/>
          <p:nvPr/>
        </p:nvSpPr>
        <p:spPr>
          <a:xfrm>
            <a:off x="2829350" y="28216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38"/>
          <p:cNvSpPr/>
          <p:nvPr/>
        </p:nvSpPr>
        <p:spPr>
          <a:xfrm>
            <a:off x="3152925" y="28216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38"/>
          <p:cNvSpPr/>
          <p:nvPr/>
        </p:nvSpPr>
        <p:spPr>
          <a:xfrm>
            <a:off x="1750325" y="25595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9" name="Google Shape;279;p38"/>
          <p:cNvSpPr/>
          <p:nvPr/>
        </p:nvSpPr>
        <p:spPr>
          <a:xfrm>
            <a:off x="2110000" y="25595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0" name="Google Shape;280;p38"/>
          <p:cNvSpPr/>
          <p:nvPr/>
        </p:nvSpPr>
        <p:spPr>
          <a:xfrm>
            <a:off x="2469675" y="25595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38"/>
          <p:cNvSpPr/>
          <p:nvPr/>
        </p:nvSpPr>
        <p:spPr>
          <a:xfrm>
            <a:off x="2829350" y="25595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38"/>
          <p:cNvSpPr/>
          <p:nvPr/>
        </p:nvSpPr>
        <p:spPr>
          <a:xfrm>
            <a:off x="3152925" y="255952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38"/>
          <p:cNvSpPr/>
          <p:nvPr/>
        </p:nvSpPr>
        <p:spPr>
          <a:xfrm>
            <a:off x="3512600" y="22740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38"/>
          <p:cNvSpPr/>
          <p:nvPr/>
        </p:nvSpPr>
        <p:spPr>
          <a:xfrm>
            <a:off x="3872275" y="20118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5" name="Google Shape;285;p38"/>
          <p:cNvSpPr/>
          <p:nvPr/>
        </p:nvSpPr>
        <p:spPr>
          <a:xfrm>
            <a:off x="5500900" y="1959575"/>
            <a:ext cx="245700" cy="2073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6" name="Google Shape;286;p38"/>
          <p:cNvSpPr/>
          <p:nvPr/>
        </p:nvSpPr>
        <p:spPr>
          <a:xfrm>
            <a:off x="5500900" y="2274025"/>
            <a:ext cx="245700" cy="207300"/>
          </a:xfrm>
          <a:prstGeom prst="rect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7" name="Google Shape;287;p38"/>
          <p:cNvSpPr/>
          <p:nvPr/>
        </p:nvSpPr>
        <p:spPr>
          <a:xfrm>
            <a:off x="5500900" y="2588475"/>
            <a:ext cx="245700" cy="207300"/>
          </a:xfrm>
          <a:prstGeom prst="rect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8" name="Google Shape;288;p38"/>
          <p:cNvSpPr txBox="1"/>
          <p:nvPr/>
        </p:nvSpPr>
        <p:spPr>
          <a:xfrm>
            <a:off x="5746600" y="186312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Modeling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5746600" y="217757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 set 1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38"/>
          <p:cNvSpPr txBox="1"/>
          <p:nvPr/>
        </p:nvSpPr>
        <p:spPr>
          <a:xfrm>
            <a:off x="5766225" y="249202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Test set 2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38"/>
          <p:cNvSpPr txBox="1"/>
          <p:nvPr/>
        </p:nvSpPr>
        <p:spPr>
          <a:xfrm>
            <a:off x="4528875" y="3949850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38"/>
          <p:cNvSpPr txBox="1"/>
          <p:nvPr/>
        </p:nvSpPr>
        <p:spPr>
          <a:xfrm>
            <a:off x="1057125" y="1699025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50"/>
              <a:t>1D - Evaluation</a:t>
            </a:r>
            <a:endParaRPr sz="3650"/>
          </a:p>
        </p:txBody>
      </p:sp>
      <p:graphicFrame>
        <p:nvGraphicFramePr>
          <p:cNvPr id="298" name="Google Shape;298;p39"/>
          <p:cNvGraphicFramePr/>
          <p:nvPr/>
        </p:nvGraphicFramePr>
        <p:xfrm>
          <a:off x="222525" y="129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{D5A7147E-1B2E-486E-9DE2-5062C9585EE4}</a:tableStyleId>
              </a:tblPr>
              <a:tblGrid>
                <a:gridCol w="375150"/>
                <a:gridCol w="1238600"/>
                <a:gridCol w="1774700"/>
                <a:gridCol w="1768825"/>
                <a:gridCol w="1698225"/>
                <a:gridCol w="1786700"/>
              </a:tblGrid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LTimes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scattering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LPlusTimes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SweepSolver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SweepComm::workRemaining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7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ParallelComm::workRemaining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1B - Selected functions</a:t>
            </a:r>
            <a:endParaRPr sz="3650"/>
          </a:p>
        </p:txBody>
      </p:sp>
      <p:graphicFrame>
        <p:nvGraphicFramePr>
          <p:cNvPr id="304" name="Google Shape;304;p40"/>
          <p:cNvGraphicFramePr/>
          <p:nvPr/>
        </p:nvGraphicFramePr>
        <p:xfrm>
          <a:off x="222525" y="129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{D5A7147E-1B2E-486E-9DE2-5062C9585EE4}</a:tableStyleId>
              </a:tblPr>
              <a:tblGrid>
                <a:gridCol w="375150"/>
                <a:gridCol w="1238600"/>
                <a:gridCol w="1639100"/>
                <a:gridCol w="1788200"/>
                <a:gridCol w="1814450"/>
                <a:gridCol w="1786700"/>
              </a:tblGrid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 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P3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readySubdomains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testRecieves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MPI_Testany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9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getReadyList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sweepSubdomain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3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MPI_Allreduce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Lulesh</a:t>
            </a:r>
            <a:endParaRPr/>
          </a:p>
        </p:txBody>
      </p:sp>
      <p:sp>
        <p:nvSpPr>
          <p:cNvPr id="310" name="Google Shape;310;p41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50"/>
              <a:t>Lulesh</a:t>
            </a:r>
            <a:endParaRPr sz="3650"/>
          </a:p>
        </p:txBody>
      </p:sp>
      <p:sp>
        <p:nvSpPr>
          <p:cNvPr id="316" name="Google Shape;316;p4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Training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</a:t>
            </a:r>
            <a:r>
              <a:rPr lang="en"/>
              <a:t> = {216, 343, 512, 729, 1000} = {6,7,8,9,10}</a:t>
            </a:r>
            <a:r>
              <a:rPr lang="en"/>
              <a:t>^3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</a:t>
            </a:r>
            <a:r>
              <a:rPr lang="en"/>
              <a:t> = {25, 30, 35, 40, 45}^3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points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P1 = {p,n} = {11, 45}^3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P2 </a:t>
            </a:r>
            <a:r>
              <a:rPr lang="en"/>
              <a:t>= {p,n} = {10, 50}^3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 input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