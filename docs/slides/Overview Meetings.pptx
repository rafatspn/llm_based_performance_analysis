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y="5143500" cx="9144000"/>
  <p:notesSz cx="6858000" cy="9144000"/>
  <p:embeddedFontLst>
    <p:embeddedFont>
      <p:font typeface="Economica"/>
      <p:regular r:id="rId36"/>
      <p:bold r:id="rId37"/>
      <p:italic r:id="rId38"/>
      <p:boldItalic r:id="rId39"/>
    </p:embeddedFont>
    <p:embeddedFont>
      <p:font typeface="Open Sans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2083583-DE50-4AE2-B4E5-44367FB4050F}">
  <a:tblStyle styleId="{B2083583-DE50-4AE2-B4E5-44367FB4050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penSans-regular.fntdata"/><Relationship Id="rId20" Type="http://schemas.openxmlformats.org/officeDocument/2006/relationships/slide" Target="slides/slide13.xml"/><Relationship Id="rId42" Type="http://schemas.openxmlformats.org/officeDocument/2006/relationships/font" Target="fonts/OpenSans-italic.fntdata"/><Relationship Id="rId41" Type="http://schemas.openxmlformats.org/officeDocument/2006/relationships/font" Target="fonts/OpenSans-bold.fntdata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43" Type="http://schemas.openxmlformats.org/officeDocument/2006/relationships/font" Target="fonts/OpenSans-boldItalic.fntdata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slide" Target="slides/slide28.xml"/><Relationship Id="rId12" Type="http://schemas.openxmlformats.org/officeDocument/2006/relationships/slide" Target="slides/slide5.xml"/><Relationship Id="rId34" Type="http://schemas.openxmlformats.org/officeDocument/2006/relationships/slide" Target="slides/slide27.xml"/><Relationship Id="rId15" Type="http://schemas.openxmlformats.org/officeDocument/2006/relationships/slide" Target="slides/slide8.xml"/><Relationship Id="rId37" Type="http://schemas.openxmlformats.org/officeDocument/2006/relationships/font" Target="fonts/Economica-bold.fntdata"/><Relationship Id="rId14" Type="http://schemas.openxmlformats.org/officeDocument/2006/relationships/slide" Target="slides/slide7.xml"/><Relationship Id="rId36" Type="http://schemas.openxmlformats.org/officeDocument/2006/relationships/font" Target="fonts/Economica-regular.fntdata"/><Relationship Id="rId17" Type="http://schemas.openxmlformats.org/officeDocument/2006/relationships/slide" Target="slides/slide10.xml"/><Relationship Id="rId39" Type="http://schemas.openxmlformats.org/officeDocument/2006/relationships/font" Target="fonts/Economica-boldItalic.fntdata"/><Relationship Id="rId16" Type="http://schemas.openxmlformats.org/officeDocument/2006/relationships/slide" Target="slides/slide9.xml"/><Relationship Id="rId38" Type="http://schemas.openxmlformats.org/officeDocument/2006/relationships/font" Target="fonts/Economica-italic.fnt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a95f4c9191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a95f4c9191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a95f4c9191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a95f4c9191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a2a10445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aa2a10445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d1632bad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ad1632bad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b0746044a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b0746044a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b0746044a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b0746044a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af43860c8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af43860c8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af43860c85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af43860c8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af43860c8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af43860c8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ad1632bad7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ad1632bad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d1632bad7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ad1632bad7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aa5f0e064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aa5f0e064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aa5f0e0646_1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aa5f0e0646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aa5f0e0646_1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aa5f0e0646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aa5f0e0646_1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aa5f0e0646_1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aa5f0e0646_1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aa5f0e0646_1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aa5f0e0646_1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aa5f0e0646_1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a95f4c9191_0_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a95f4c9191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a95f4c9191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a95f4c9191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a95f4c9191_0_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a95f4c9191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a95f4c9191_0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a95f4c9191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a95f4c9191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a95f4c9191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a95f4c9191_0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a95f4c9191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a95f4c9191_0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a95f4c9191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a95f4c9191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a95f4c9191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a08ec54ab6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a08ec54ab6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a08ec54ab6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a08ec54ab6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a08ec54ab6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a08ec54ab6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6" name="Google Shape;56;p14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7" name="Google Shape;57;p14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2" name="Google Shape;62;p15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3" name="Google Shape;63;p15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3" name="Google Shape;73;p17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4" name="Google Shape;7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1" name="Google Shape;8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0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0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5" name="Google Shape;8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1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" name="Google Shape;88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" name="Google Shape;89;p21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0" name="Google Shape;90;p21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91" name="Google Shape;91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2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95" name="Google Shape;9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3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9" name="Google Shape;99;p23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0" name="Google Shape;10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github.com/LLNL/Kripke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5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LLM Meetings</a:t>
            </a:r>
            <a:endParaRPr/>
          </a:p>
        </p:txBody>
      </p:sp>
      <p:sp>
        <p:nvSpPr>
          <p:cNvPr id="108" name="Google Shape;108;p25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50"/>
              <a:t>Overview</a:t>
            </a:r>
            <a:endParaRPr sz="3650"/>
          </a:p>
        </p:txBody>
      </p:sp>
      <p:sp>
        <p:nvSpPr>
          <p:cNvPr id="114" name="Google Shape;114;p2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Possible task conference: SC26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Meaning that we have to finish the work by April. Is this realistic?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Can we make a work plan for that? Example: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Month 1: i. Results (train LLM and integrate in Extra-P); ii. Slides for method and evaluation; iii. Text (Sec. 1 and 2 - Introduction and Background)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Month 2: Sec. 3 and 4 - method and evaluation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Month 3: i. Sec. 5 and 6 - related work and </a:t>
            </a:r>
            <a:r>
              <a:rPr lang="en"/>
              <a:t>conclusion; ii. Review loop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 2 weeks PofC works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Ongoing: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Design the LLM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Get data for training the LLM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50"/>
              <a:t>Chronogram</a:t>
            </a:r>
            <a:endParaRPr sz="3650"/>
          </a:p>
        </p:txBody>
      </p:sp>
      <p:graphicFrame>
        <p:nvGraphicFramePr>
          <p:cNvPr id="120" name="Google Shape;120;p27"/>
          <p:cNvGraphicFramePr/>
          <p:nvPr/>
        </p:nvGraphicFramePr>
        <p:xfrm>
          <a:off x="472150" y="1272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{B2083583-DE50-4AE2-B4E5-44367FB4050F}</a:tableStyleId>
              </a:tblPr>
              <a:tblGrid>
                <a:gridCol w="4945000"/>
                <a:gridCol w="1139075"/>
                <a:gridCol w="1020900"/>
                <a:gridCol w="1013425"/>
              </a:tblGrid>
              <a:tr h="366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Month 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Month 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Month 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Results (train LLM and integrate in Extra-P)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Update s</a:t>
                      </a:r>
                      <a:r>
                        <a:rPr lang="en"/>
                        <a:t>lides for method and evaluation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Text 1: Introduction and Background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Text 2: Method and Evaluation 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Text 3: Related work and Conclusion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Paper review loop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1" name="Google Shape;121;p27"/>
          <p:cNvSpPr/>
          <p:nvPr/>
        </p:nvSpPr>
        <p:spPr>
          <a:xfrm>
            <a:off x="5579525" y="1766225"/>
            <a:ext cx="798000" cy="207000"/>
          </a:xfrm>
          <a:prstGeom prst="rect">
            <a:avLst/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2" name="Google Shape;122;p27"/>
          <p:cNvSpPr/>
          <p:nvPr/>
        </p:nvSpPr>
        <p:spPr>
          <a:xfrm>
            <a:off x="5579525" y="2184650"/>
            <a:ext cx="798000" cy="207000"/>
          </a:xfrm>
          <a:prstGeom prst="rect">
            <a:avLst/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3" name="Google Shape;123;p27"/>
          <p:cNvSpPr/>
          <p:nvPr/>
        </p:nvSpPr>
        <p:spPr>
          <a:xfrm>
            <a:off x="5579525" y="2556050"/>
            <a:ext cx="798000" cy="207000"/>
          </a:xfrm>
          <a:prstGeom prst="rect">
            <a:avLst/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4" name="Google Shape;124;p27"/>
          <p:cNvSpPr/>
          <p:nvPr/>
        </p:nvSpPr>
        <p:spPr>
          <a:xfrm>
            <a:off x="6670450" y="2962450"/>
            <a:ext cx="798000" cy="207000"/>
          </a:xfrm>
          <a:prstGeom prst="rect">
            <a:avLst/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5" name="Google Shape;125;p27"/>
          <p:cNvSpPr/>
          <p:nvPr/>
        </p:nvSpPr>
        <p:spPr>
          <a:xfrm>
            <a:off x="7672700" y="3368850"/>
            <a:ext cx="798000" cy="207000"/>
          </a:xfrm>
          <a:prstGeom prst="rect">
            <a:avLst/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6" name="Google Shape;126;p27"/>
          <p:cNvSpPr/>
          <p:nvPr/>
        </p:nvSpPr>
        <p:spPr>
          <a:xfrm>
            <a:off x="6670450" y="3740250"/>
            <a:ext cx="1800300" cy="207000"/>
          </a:xfrm>
          <a:prstGeom prst="rect">
            <a:avLst/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50"/>
              <a:t>Chronogram - December</a:t>
            </a:r>
            <a:endParaRPr sz="3650"/>
          </a:p>
        </p:txBody>
      </p:sp>
      <p:graphicFrame>
        <p:nvGraphicFramePr>
          <p:cNvPr id="132" name="Google Shape;132;p28"/>
          <p:cNvGraphicFramePr/>
          <p:nvPr/>
        </p:nvGraphicFramePr>
        <p:xfrm>
          <a:off x="472150" y="1272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{B2083583-DE50-4AE2-B4E5-44367FB4050F}</a:tableStyleId>
              </a:tblPr>
              <a:tblGrid>
                <a:gridCol w="5615375"/>
                <a:gridCol w="627250"/>
                <a:gridCol w="618875"/>
                <a:gridCol w="604925"/>
                <a:gridCol w="651975"/>
              </a:tblGrid>
              <a:tr h="366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 [LLM] PofC works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. [LLM] Data for the LLM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. [LLM] Test LLM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4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. [Text] list of titles, abstract, and contributions 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5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. [Text] Overleaf: Introduction and Background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6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. Evaluation data (case studies)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3" name="Google Shape;133;p28"/>
          <p:cNvSpPr/>
          <p:nvPr/>
        </p:nvSpPr>
        <p:spPr>
          <a:xfrm>
            <a:off x="6170725" y="1756900"/>
            <a:ext cx="1027200" cy="207000"/>
          </a:xfrm>
          <a:prstGeom prst="rect">
            <a:avLst/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4" name="Google Shape;134;p28"/>
          <p:cNvSpPr/>
          <p:nvPr/>
        </p:nvSpPr>
        <p:spPr>
          <a:xfrm>
            <a:off x="6170725" y="2160375"/>
            <a:ext cx="990300" cy="207000"/>
          </a:xfrm>
          <a:prstGeom prst="rect">
            <a:avLst/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5" name="Google Shape;135;p28"/>
          <p:cNvSpPr/>
          <p:nvPr/>
        </p:nvSpPr>
        <p:spPr>
          <a:xfrm>
            <a:off x="6170725" y="2563838"/>
            <a:ext cx="1650000" cy="207000"/>
          </a:xfrm>
          <a:prstGeom prst="rect">
            <a:avLst/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6" name="Google Shape;136;p28"/>
          <p:cNvSpPr/>
          <p:nvPr/>
        </p:nvSpPr>
        <p:spPr>
          <a:xfrm>
            <a:off x="6170725" y="2962450"/>
            <a:ext cx="414000" cy="207000"/>
          </a:xfrm>
          <a:prstGeom prst="rect">
            <a:avLst/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7" name="Google Shape;137;p28"/>
          <p:cNvSpPr/>
          <p:nvPr/>
        </p:nvSpPr>
        <p:spPr>
          <a:xfrm>
            <a:off x="6814075" y="3342275"/>
            <a:ext cx="1650000" cy="207000"/>
          </a:xfrm>
          <a:prstGeom prst="rect">
            <a:avLst/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8" name="Google Shape;138;p28"/>
          <p:cNvSpPr/>
          <p:nvPr/>
        </p:nvSpPr>
        <p:spPr>
          <a:xfrm>
            <a:off x="6170725" y="3732250"/>
            <a:ext cx="414000" cy="207000"/>
          </a:xfrm>
          <a:prstGeom prst="rect">
            <a:avLst/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9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Meeting</a:t>
            </a:r>
            <a:endParaRPr/>
          </a:p>
        </p:txBody>
      </p:sp>
      <p:sp>
        <p:nvSpPr>
          <p:cNvPr id="144" name="Google Shape;144;p29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17.12.2025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50"/>
              <a:t>Meeting 17.12.2025 </a:t>
            </a:r>
            <a:endParaRPr sz="3650"/>
          </a:p>
        </p:txBody>
      </p:sp>
      <p:sp>
        <p:nvSpPr>
          <p:cNvPr id="150" name="Google Shape;150;p30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Dataset updated (check case_2)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I will upload more if necessary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Redefine </a:t>
            </a:r>
            <a:r>
              <a:rPr lang="en"/>
              <a:t>goals and method (check Guide 2 and Evaluation)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Paper organization (check Guide 1)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1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Meeting</a:t>
            </a:r>
            <a:endParaRPr/>
          </a:p>
        </p:txBody>
      </p:sp>
      <p:sp>
        <p:nvSpPr>
          <p:cNvPr id="156" name="Google Shape;156;p31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10.12.2025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50"/>
              <a:t>Meeting 10.12.2025 </a:t>
            </a:r>
            <a:endParaRPr sz="3650"/>
          </a:p>
        </p:txBody>
      </p:sp>
      <p:sp>
        <p:nvSpPr>
          <p:cNvPr id="162" name="Google Shape;162;p32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 Kripke and ChatGPT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Input: source code + call path. Output: complexity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kripke.exe</a:t>
            </a:r>
            <a:r>
              <a:rPr lang="en">
                <a:solidFill>
                  <a:srgbClr val="FF0000"/>
                </a:solidFill>
              </a:rPr>
              <a:t>-&gt;</a:t>
            </a:r>
            <a:r>
              <a:rPr lang="en"/>
              <a:t>main</a:t>
            </a:r>
            <a:r>
              <a:rPr lang="en">
                <a:solidFill>
                  <a:srgbClr val="FF0000"/>
                </a:solidFill>
              </a:rPr>
              <a:t>-&gt;</a:t>
            </a:r>
            <a:r>
              <a:rPr lang="en"/>
              <a:t>Kripke::SteadyStateSolver(Kripke::Core::DataStore&amp;, unsigned long, bool)</a:t>
            </a:r>
            <a:r>
              <a:rPr lang="en">
                <a:solidFill>
                  <a:srgbClr val="FF0000"/>
                </a:solidFill>
              </a:rPr>
              <a:t>-&gt;</a:t>
            </a:r>
            <a:r>
              <a:rPr lang="en"/>
              <a:t>Kripke::SweepSolver(Kripke::Core::DataStore&amp;, std::vector&lt;Kripke::SdomId, std::allocator&lt;Kripke::SdomId&gt; &gt;, bool)</a:t>
            </a:r>
            <a:r>
              <a:rPr lang="en">
                <a:solidFill>
                  <a:srgbClr val="FF0000"/>
                </a:solidFill>
              </a:rPr>
              <a:t>-&gt;</a:t>
            </a:r>
            <a:r>
              <a:rPr lang="en"/>
              <a:t>Kripke::SweepComm::readySubdomains()</a:t>
            </a:r>
            <a:r>
              <a:rPr lang="en">
                <a:solidFill>
                  <a:srgbClr val="FF0000"/>
                </a:solidFill>
              </a:rPr>
              <a:t>-&gt;</a:t>
            </a:r>
            <a:r>
              <a:rPr lang="en"/>
              <a:t>Kripke::ParallelComm::testRecieves()</a:t>
            </a:r>
            <a:r>
              <a:rPr lang="en">
                <a:solidFill>
                  <a:srgbClr val="FF0000"/>
                </a:solidFill>
              </a:rPr>
              <a:t>-&gt;</a:t>
            </a:r>
            <a:r>
              <a:rPr lang="en">
                <a:solidFill>
                  <a:srgbClr val="FF0000"/>
                </a:solidFill>
              </a:rPr>
              <a:t>MPI_Testany</a:t>
            </a:r>
            <a:endParaRPr>
              <a:solidFill>
                <a:srgbClr val="FF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Input configuration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</a:t>
            </a:r>
            <a:r>
              <a:rPr lang="en"/>
              <a:t> = px * py * pz;  </a:t>
            </a:r>
            <a:r>
              <a:rPr lang="en"/>
              <a:t>px = py = pz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Z = (Zx*px) * (Zy*py) * (Zz*pz);  Zx = Zy = Zz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O(p^⅓ + G * Z^⅔)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50"/>
              <a:t>Meeting 10.12.2025 </a:t>
            </a:r>
            <a:endParaRPr sz="3650"/>
          </a:p>
        </p:txBody>
      </p:sp>
      <p:sp>
        <p:nvSpPr>
          <p:cNvPr id="168" name="Google Shape;168;p3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is the data format? When it is done, we can provide some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Baseline 1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Input: C++ code, call-path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Output: code complexity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Baseline 2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Input: C++ code, call-path, source code location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Output: code complexity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Baseline 3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Input: C++ code, call-path, input parameters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Output: number of SWC executions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Char char="●"/>
            </a:pPr>
            <a:r>
              <a:rPr lang="en">
                <a:solidFill>
                  <a:srgbClr val="FF0000"/>
                </a:solidFill>
              </a:rPr>
              <a:t>Baseline 4</a:t>
            </a:r>
            <a:endParaRPr>
              <a:solidFill>
                <a:srgbClr val="FF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Input: C++ code, call-path, input parameters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Output: code complexity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4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Meeting</a:t>
            </a:r>
            <a:endParaRPr/>
          </a:p>
        </p:txBody>
      </p:sp>
      <p:sp>
        <p:nvSpPr>
          <p:cNvPr id="174" name="Google Shape;174;p34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03.12.2025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50"/>
              <a:t>Meeting 03.12.2025 </a:t>
            </a:r>
            <a:endParaRPr sz="3650"/>
          </a:p>
        </p:txBody>
      </p:sp>
      <p:sp>
        <p:nvSpPr>
          <p:cNvPr id="180" name="Google Shape;180;p35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Baseline 1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Input: C++ code, call-path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Output: code complexity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Baseline 2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Input: C++ code, call-path, source code location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Output: code complexity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Baseline 3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Input: C++ code, call-path, input parameters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Output: number of SWC executions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6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Meeting</a:t>
            </a:r>
            <a:endParaRPr/>
          </a:p>
        </p:txBody>
      </p:sp>
      <p:sp>
        <p:nvSpPr>
          <p:cNvPr id="186" name="Google Shape;186;p36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02.12.2025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50"/>
              <a:t>Problem formulation</a:t>
            </a:r>
            <a:endParaRPr sz="3650"/>
          </a:p>
        </p:txBody>
      </p:sp>
      <p:sp>
        <p:nvSpPr>
          <p:cNvPr id="192" name="Google Shape;192;p37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Function complexity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Empirical model (Extra-P)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Empirical model = function complexity * #executions  </a:t>
            </a:r>
            <a:endParaRPr/>
          </a:p>
        </p:txBody>
      </p:sp>
      <p:sp>
        <p:nvSpPr>
          <p:cNvPr id="193" name="Google Shape;193;p37"/>
          <p:cNvSpPr txBox="1"/>
          <p:nvPr/>
        </p:nvSpPr>
        <p:spPr>
          <a:xfrm>
            <a:off x="1122050" y="1721475"/>
            <a:ext cx="4014300" cy="4617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Function[k] → </a:t>
            </a:r>
            <a:r>
              <a:rPr b="1" lang="en" sz="18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n^(1)</a:t>
            </a: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4" name="Google Shape;194;p37"/>
          <p:cNvSpPr txBox="1"/>
          <p:nvPr/>
        </p:nvSpPr>
        <p:spPr>
          <a:xfrm>
            <a:off x="1122050" y="2627475"/>
            <a:ext cx="4014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Function[k] → </a:t>
            </a:r>
            <a:r>
              <a:rPr b="1" lang="en" sz="18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n^(2) * p^(1/3)</a:t>
            </a:r>
            <a:endParaRPr b="1" sz="18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5" name="Google Shape;195;p37"/>
          <p:cNvSpPr txBox="1"/>
          <p:nvPr/>
        </p:nvSpPr>
        <p:spPr>
          <a:xfrm>
            <a:off x="1122050" y="3644075"/>
            <a:ext cx="678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</a:t>
            </a: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ain → … </a:t>
            </a: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→ Function[k-1] </a:t>
            </a: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→ </a:t>
            </a: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Function[k] → </a:t>
            </a:r>
            <a:r>
              <a:rPr b="1" lang="en" sz="18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n^(2) * p^(1/3)</a:t>
            </a:r>
            <a:endParaRPr b="1" sz="18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6" name="Google Shape;196;p37"/>
          <p:cNvSpPr/>
          <p:nvPr/>
        </p:nvSpPr>
        <p:spPr>
          <a:xfrm>
            <a:off x="6699900" y="1739775"/>
            <a:ext cx="2358000" cy="1349400"/>
          </a:xfrm>
          <a:prstGeom prst="rect">
            <a:avLst/>
          </a:prstGeom>
          <a:solidFill>
            <a:srgbClr val="CC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The final performance is defined by how the variable evolves throughout the call path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50"/>
              <a:t>LLM</a:t>
            </a:r>
            <a:endParaRPr sz="3650"/>
          </a:p>
        </p:txBody>
      </p:sp>
      <p:sp>
        <p:nvSpPr>
          <p:cNvPr id="202" name="Google Shape;202;p38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Input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Source code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Call path (?)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Code parameters (e.g., problem size, MPI ranks) </a:t>
            </a:r>
            <a:r>
              <a:rPr lang="en"/>
              <a:t>(?)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Output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Individual function complexity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Performance in terms of function executions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Execution effort value (e.g., f(n,p) = </a:t>
            </a:r>
            <a:r>
              <a:rPr lang="en"/>
              <a:t>f(10,100) =</a:t>
            </a:r>
            <a:r>
              <a:rPr lang="en"/>
              <a:t> 1000)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Relevant code sections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Effect of busy waiting or if-else statements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50"/>
              <a:t>Expected Contributions </a:t>
            </a:r>
            <a:endParaRPr sz="3650"/>
          </a:p>
        </p:txBody>
      </p:sp>
      <p:sp>
        <p:nvSpPr>
          <p:cNvPr id="208" name="Google Shape;208;p39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Static analysis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propose an expected kernel analytical complexity, analysing the source code (and call path)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Our method suggests the expected effort measurement value given an input configuration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Our method identifies if the code is affected by “uncontrolled” variables (e.g., busy waiting or if-else statements) — this point is more in the direction of getting issues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50"/>
              <a:t>Expected </a:t>
            </a:r>
            <a:r>
              <a:rPr lang="en" sz="3650"/>
              <a:t>Contributions </a:t>
            </a:r>
            <a:endParaRPr sz="3650"/>
          </a:p>
        </p:txBody>
      </p:sp>
      <p:sp>
        <p:nvSpPr>
          <p:cNvPr id="214" name="Google Shape;214;p40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Model design (LLM + Extra-P modeler)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Extra-P verifies whether the actual behavior aligns with the expected performance during the modeling phase; if they disagree, it can indicate a performance bottleneck (e.g., hardware issues, configuration errors, etc.)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Increase the model's accuracy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Cost reduction and noise resilience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suggest the cheapest set of measurements that should be collected to define the model (using software counters)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50"/>
              <a:t>Data</a:t>
            </a:r>
            <a:endParaRPr sz="3650"/>
          </a:p>
        </p:txBody>
      </p:sp>
      <p:sp>
        <p:nvSpPr>
          <p:cNvPr id="220" name="Google Shape;220;p4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Experiment 1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Simple case using MPI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Data in the format that works best with our framework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Experiment 2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More complex codes, with multiple nested functions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But we need to know the data format (used in experiment 1)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Meeting</a:t>
            </a:r>
            <a:endParaRPr/>
          </a:p>
        </p:txBody>
      </p:sp>
      <p:sp>
        <p:nvSpPr>
          <p:cNvPr id="226" name="Google Shape;226;p4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26.11.2025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4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50"/>
              <a:t>Meeting 26.11.2025: TODO</a:t>
            </a:r>
            <a:endParaRPr sz="3650"/>
          </a:p>
        </p:txBody>
      </p:sp>
      <p:sp>
        <p:nvSpPr>
          <p:cNvPr id="232" name="Google Shape;232;p4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(Rice) Write script to pass some code for the LLM, get out the complexity prediction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[Test] input: source code + call path; output: LLM model (performance prediction) per call path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[Training] measurement data to provide the error metric, e.g., SWC, time, complexity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(TUDa) Get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(TUDa) Figure out isolating relevant code sections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50"/>
              <a:t>Meeting 26.11.2025</a:t>
            </a:r>
            <a:endParaRPr sz="3650"/>
          </a:p>
        </p:txBody>
      </p:sp>
      <p:sp>
        <p:nvSpPr>
          <p:cNvPr id="238" name="Google Shape;238;p4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Task 1: fit the LLM with our framework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Call Iowa for our discussion (mentioned in task 2)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Draft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API: source code -&gt; LLM = Models(1) [TODO a script for that] [</a:t>
            </a:r>
            <a:r>
              <a:rPr lang="en">
                <a:solidFill>
                  <a:srgbClr val="FF0000"/>
                </a:solidFill>
              </a:rPr>
              <a:t>attention here!</a:t>
            </a:r>
            <a:r>
              <a:rPr lang="en"/>
              <a:t>]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Context window size?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CM: measurements -&gt; Extra-P: Models(2)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CM (</a:t>
            </a:r>
            <a:r>
              <a:rPr b="1" lang="en"/>
              <a:t>updated</a:t>
            </a:r>
            <a:r>
              <a:rPr lang="en"/>
              <a:t>): </a:t>
            </a:r>
            <a:r>
              <a:rPr lang="en"/>
              <a:t>Models(1) + measurements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Task 1.1: literature review for large dataset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Problem: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https://github.com/LLNL/Kripke</a:t>
            </a:r>
            <a:r>
              <a:rPr lang="en"/>
              <a:t>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50"/>
              <a:t>Meeting 26.11.2025</a:t>
            </a:r>
            <a:endParaRPr sz="3650"/>
          </a:p>
        </p:txBody>
      </p:sp>
      <p:sp>
        <p:nvSpPr>
          <p:cNvPr id="244" name="Google Shape;244;p45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Task 2 (TUDa): get data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need to know the LLM input to organize the data, once it is done I can send the first set of data (using the BG-v1 data from the Denoise paper) 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To provide more data, BG-v2 is half completed (I plan to run in local computer, so in 1 week we expect a big amount of data)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For the previous point, we maybe need to invite Iowa side to organize training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Task 3 (TUDa): organize case studies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 am working on the evaluation methodology, but I believe it will be close to the Denoise paper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Experiments: kripke and Relearn (done); Lulesh and miniFE (run the test measurement); and maybe run another one as Quicksilver 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50"/>
              <a:t>Meeting 26.11.2025</a:t>
            </a:r>
            <a:endParaRPr sz="3650"/>
          </a:p>
        </p:txBody>
      </p:sp>
      <p:sp>
        <p:nvSpPr>
          <p:cNvPr id="250" name="Google Shape;250;p4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Task 4 (all of us): text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Share ShareLatex (Overleaf). Prepare a skeleton and update </a:t>
            </a:r>
            <a:r>
              <a:rPr lang="en"/>
              <a:t>title</a:t>
            </a:r>
            <a:r>
              <a:rPr lang="en"/>
              <a:t>, abstract, introduction, and background/motivation?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7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Meeting</a:t>
            </a:r>
            <a:endParaRPr/>
          </a:p>
        </p:txBody>
      </p:sp>
      <p:sp>
        <p:nvSpPr>
          <p:cNvPr id="256" name="Google Shape;256;p47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12.11.2025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50"/>
              <a:t>Meeting 12.11.2025</a:t>
            </a:r>
            <a:endParaRPr sz="3650"/>
          </a:p>
        </p:txBody>
      </p:sp>
      <p:sp>
        <p:nvSpPr>
          <p:cNvPr id="262" name="Google Shape;262;p48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Task 1: fit the LLM with our framework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have an example that can be used for test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Task 2 (TUDa): get data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Use old data and update our benchmark generator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But for the data format we need the conclusion from Task 1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Task 3 </a:t>
            </a:r>
            <a:r>
              <a:rPr lang="en"/>
              <a:t>(TUDa): organize case studies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Check old data and which types of conclusions we aim to obtain  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9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Meeting</a:t>
            </a:r>
            <a:endParaRPr/>
          </a:p>
        </p:txBody>
      </p:sp>
      <p:sp>
        <p:nvSpPr>
          <p:cNvPr id="268" name="Google Shape;268;p49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[Meeting introduction] Problem</a:t>
            </a:r>
            <a:endParaRPr/>
          </a:p>
        </p:txBody>
      </p:sp>
      <p:pic>
        <p:nvPicPr>
          <p:cNvPr id="274" name="Google Shape;274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9975" y="1164050"/>
            <a:ext cx="2795675" cy="3768075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50"/>
          <p:cNvSpPr/>
          <p:nvPr/>
        </p:nvSpPr>
        <p:spPr>
          <a:xfrm>
            <a:off x="741125" y="1048125"/>
            <a:ext cx="3976200" cy="323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Call path performance: main -&gt; F1 -&gt; foo -&gt; F2</a:t>
            </a:r>
            <a:endParaRPr/>
          </a:p>
        </p:txBody>
      </p:sp>
      <p:cxnSp>
        <p:nvCxnSpPr>
          <p:cNvPr id="276" name="Google Shape;276;p50"/>
          <p:cNvCxnSpPr/>
          <p:nvPr/>
        </p:nvCxnSpPr>
        <p:spPr>
          <a:xfrm flipH="1" rot="10800000">
            <a:off x="3033200" y="2338450"/>
            <a:ext cx="2188800" cy="1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7" name="Google Shape;277;p50"/>
          <p:cNvSpPr/>
          <p:nvPr/>
        </p:nvSpPr>
        <p:spPr>
          <a:xfrm>
            <a:off x="5380000" y="1876300"/>
            <a:ext cx="3252600" cy="93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# SWC =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# executions   x  # function SWC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              (function complexity)</a:t>
            </a:r>
            <a:endParaRPr/>
          </a:p>
        </p:txBody>
      </p:sp>
      <p:sp>
        <p:nvSpPr>
          <p:cNvPr id="278" name="Google Shape;278;p50"/>
          <p:cNvSpPr/>
          <p:nvPr/>
        </p:nvSpPr>
        <p:spPr>
          <a:xfrm>
            <a:off x="5537950" y="3912975"/>
            <a:ext cx="2845500" cy="759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analytical complexity of the function is not the objective</a:t>
            </a:r>
            <a:endParaRPr/>
          </a:p>
        </p:txBody>
      </p:sp>
      <p:sp>
        <p:nvSpPr>
          <p:cNvPr id="279" name="Google Shape;279;p50"/>
          <p:cNvSpPr/>
          <p:nvPr/>
        </p:nvSpPr>
        <p:spPr>
          <a:xfrm>
            <a:off x="2267638" y="4261050"/>
            <a:ext cx="1434900" cy="231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measurement?</a:t>
            </a:r>
            <a:endParaRPr/>
          </a:p>
        </p:txBody>
      </p:sp>
      <p:sp>
        <p:nvSpPr>
          <p:cNvPr id="280" name="Google Shape;280;p50"/>
          <p:cNvSpPr/>
          <p:nvPr/>
        </p:nvSpPr>
        <p:spPr>
          <a:xfrm>
            <a:off x="3094375" y="2071175"/>
            <a:ext cx="1434900" cy="231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prediction</a:t>
            </a:r>
            <a:endParaRPr/>
          </a:p>
        </p:txBody>
      </p:sp>
      <p:sp>
        <p:nvSpPr>
          <p:cNvPr id="281" name="Google Shape;281;p50"/>
          <p:cNvSpPr/>
          <p:nvPr/>
        </p:nvSpPr>
        <p:spPr>
          <a:xfrm>
            <a:off x="2850750" y="3190250"/>
            <a:ext cx="1434900" cy="231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prediction</a:t>
            </a:r>
            <a:endParaRPr/>
          </a:p>
        </p:txBody>
      </p:sp>
      <p:sp>
        <p:nvSpPr>
          <p:cNvPr id="282" name="Google Shape;282;p50"/>
          <p:cNvSpPr/>
          <p:nvPr/>
        </p:nvSpPr>
        <p:spPr>
          <a:xfrm>
            <a:off x="2559325" y="3815700"/>
            <a:ext cx="1434900" cy="231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prediction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Training</a:t>
            </a:r>
            <a:endParaRPr/>
          </a:p>
        </p:txBody>
      </p:sp>
      <p:sp>
        <p:nvSpPr>
          <p:cNvPr id="288" name="Google Shape;288;p51"/>
          <p:cNvSpPr/>
          <p:nvPr/>
        </p:nvSpPr>
        <p:spPr>
          <a:xfrm>
            <a:off x="3066875" y="2425200"/>
            <a:ext cx="389100" cy="417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51"/>
          <p:cNvSpPr/>
          <p:nvPr/>
        </p:nvSpPr>
        <p:spPr>
          <a:xfrm>
            <a:off x="388500" y="1395925"/>
            <a:ext cx="2468400" cy="2286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Input data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90" name="Google Shape;290;p51"/>
          <p:cNvSpPr/>
          <p:nvPr/>
        </p:nvSpPr>
        <p:spPr>
          <a:xfrm>
            <a:off x="482700" y="1821500"/>
            <a:ext cx="2304300" cy="511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Source code (c++)</a:t>
            </a:r>
            <a:endParaRPr sz="12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Optional: Source code (LLVM)</a:t>
            </a:r>
            <a:endParaRPr sz="1200"/>
          </a:p>
        </p:txBody>
      </p:sp>
      <p:sp>
        <p:nvSpPr>
          <p:cNvPr id="291" name="Google Shape;291;p51"/>
          <p:cNvSpPr/>
          <p:nvPr/>
        </p:nvSpPr>
        <p:spPr>
          <a:xfrm>
            <a:off x="482700" y="2393400"/>
            <a:ext cx="2304300" cy="511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Input value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e.g., n = [2, 4, 8, 16, 32, …]</a:t>
            </a:r>
            <a:endParaRPr sz="1200"/>
          </a:p>
        </p:txBody>
      </p:sp>
      <p:sp>
        <p:nvSpPr>
          <p:cNvPr id="292" name="Google Shape;292;p51"/>
          <p:cNvSpPr/>
          <p:nvPr/>
        </p:nvSpPr>
        <p:spPr>
          <a:xfrm>
            <a:off x="482700" y="2965288"/>
            <a:ext cx="2304300" cy="511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Measurements/rank (SWC)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Number of executions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93" name="Google Shape;293;p51"/>
          <p:cNvSpPr/>
          <p:nvPr/>
        </p:nvSpPr>
        <p:spPr>
          <a:xfrm>
            <a:off x="3520000" y="1395925"/>
            <a:ext cx="2468400" cy="2286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LLM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94" name="Google Shape;294;p51"/>
          <p:cNvSpPr/>
          <p:nvPr/>
        </p:nvSpPr>
        <p:spPr>
          <a:xfrm>
            <a:off x="3602050" y="1731850"/>
            <a:ext cx="2304300" cy="1044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Giving n(i) predict the next measurement n(i+k)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k = [1, 2, 3, …]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Application</a:t>
            </a:r>
            <a:endParaRPr/>
          </a:p>
        </p:txBody>
      </p:sp>
      <p:sp>
        <p:nvSpPr>
          <p:cNvPr id="300" name="Google Shape;300;p52"/>
          <p:cNvSpPr/>
          <p:nvPr/>
        </p:nvSpPr>
        <p:spPr>
          <a:xfrm>
            <a:off x="388500" y="1395925"/>
            <a:ext cx="2468400" cy="1562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Input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01" name="Google Shape;301;p52"/>
          <p:cNvSpPr/>
          <p:nvPr/>
        </p:nvSpPr>
        <p:spPr>
          <a:xfrm>
            <a:off x="482700" y="1821500"/>
            <a:ext cx="2304300" cy="511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Source code (c++)</a:t>
            </a:r>
            <a:endParaRPr sz="12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Optional: Source code (LLVM)</a:t>
            </a:r>
            <a:endParaRPr sz="1200"/>
          </a:p>
        </p:txBody>
      </p:sp>
      <p:sp>
        <p:nvSpPr>
          <p:cNvPr id="302" name="Google Shape;302;p52"/>
          <p:cNvSpPr/>
          <p:nvPr/>
        </p:nvSpPr>
        <p:spPr>
          <a:xfrm>
            <a:off x="482700" y="2393400"/>
            <a:ext cx="2304300" cy="511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Input value: n(i)</a:t>
            </a:r>
            <a:endParaRPr sz="1200"/>
          </a:p>
        </p:txBody>
      </p:sp>
      <p:sp>
        <p:nvSpPr>
          <p:cNvPr id="303" name="Google Shape;303;p52"/>
          <p:cNvSpPr/>
          <p:nvPr/>
        </p:nvSpPr>
        <p:spPr>
          <a:xfrm>
            <a:off x="3520000" y="1395925"/>
            <a:ext cx="1052100" cy="1562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LLM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cxnSp>
        <p:nvCxnSpPr>
          <p:cNvPr id="304" name="Google Shape;304;p52"/>
          <p:cNvCxnSpPr/>
          <p:nvPr/>
        </p:nvCxnSpPr>
        <p:spPr>
          <a:xfrm>
            <a:off x="2990650" y="2180225"/>
            <a:ext cx="383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5" name="Google Shape;305;p52"/>
          <p:cNvSpPr/>
          <p:nvPr/>
        </p:nvSpPr>
        <p:spPr>
          <a:xfrm>
            <a:off x="5173500" y="1399025"/>
            <a:ext cx="2468400" cy="1562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Output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cxnSp>
        <p:nvCxnSpPr>
          <p:cNvPr id="306" name="Google Shape;306;p52"/>
          <p:cNvCxnSpPr/>
          <p:nvPr/>
        </p:nvCxnSpPr>
        <p:spPr>
          <a:xfrm>
            <a:off x="4626650" y="2178725"/>
            <a:ext cx="492300" cy="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7" name="Google Shape;307;p52"/>
          <p:cNvSpPr/>
          <p:nvPr/>
        </p:nvSpPr>
        <p:spPr>
          <a:xfrm>
            <a:off x="5235200" y="1727298"/>
            <a:ext cx="2304300" cy="1036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n(i+k1) </a:t>
            </a:r>
            <a:r>
              <a:rPr lang="en" sz="1200">
                <a:solidFill>
                  <a:schemeClr val="dk1"/>
                </a:solidFill>
              </a:rPr>
              <a:t>n(i+k2)</a:t>
            </a:r>
            <a:r>
              <a:rPr lang="en" sz="1200">
                <a:solidFill>
                  <a:schemeClr val="dk1"/>
                </a:solidFill>
              </a:rPr>
              <a:t> </a:t>
            </a:r>
            <a:r>
              <a:rPr lang="en" sz="1200">
                <a:solidFill>
                  <a:schemeClr val="dk1"/>
                </a:solidFill>
              </a:rPr>
              <a:t>n(i+k3), …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Measurements/rank (SWC)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Optional (# executions)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308" name="Google Shape;308;p52"/>
          <p:cNvSpPr/>
          <p:nvPr/>
        </p:nvSpPr>
        <p:spPr>
          <a:xfrm>
            <a:off x="5137650" y="3390500"/>
            <a:ext cx="2504100" cy="1100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Validate LLM: n(i + k1) correct?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cxnSp>
        <p:nvCxnSpPr>
          <p:cNvPr id="309" name="Google Shape;309;p52"/>
          <p:cNvCxnSpPr>
            <a:stCxn id="305" idx="3"/>
            <a:endCxn id="308" idx="3"/>
          </p:cNvCxnSpPr>
          <p:nvPr/>
        </p:nvCxnSpPr>
        <p:spPr>
          <a:xfrm>
            <a:off x="7641900" y="2180225"/>
            <a:ext cx="600" cy="1760400"/>
          </a:xfrm>
          <a:prstGeom prst="bentConnector3">
            <a:avLst>
              <a:gd fmla="val 19755833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0" name="Google Shape;310;p52"/>
          <p:cNvCxnSpPr/>
          <p:nvPr/>
        </p:nvCxnSpPr>
        <p:spPr>
          <a:xfrm rot="10800000">
            <a:off x="7641750" y="3939200"/>
            <a:ext cx="656400" cy="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1" name="Google Shape;311;p52"/>
          <p:cNvCxnSpPr>
            <a:stCxn id="308" idx="1"/>
          </p:cNvCxnSpPr>
          <p:nvPr/>
        </p:nvCxnSpPr>
        <p:spPr>
          <a:xfrm rot="10800000">
            <a:off x="4303950" y="3937250"/>
            <a:ext cx="833700" cy="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2" name="Google Shape;312;p52"/>
          <p:cNvSpPr/>
          <p:nvPr/>
        </p:nvSpPr>
        <p:spPr>
          <a:xfrm>
            <a:off x="1799850" y="3388850"/>
            <a:ext cx="2504100" cy="1100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Build Extra-P models 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Lower experimental costs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